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E3AE7-AF41-4880-A7D3-7259726226AD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5EFF9-2667-4139-B030-F15857A58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304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0B4A3-FC16-4A95-A0FE-F0BC17C8E67F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08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Courier New" panose="02070309020205020404" pitchFamily="49" charset="0"/>
              <a:buChar char="o"/>
              <a:defRPr/>
            </a:lvl2pPr>
            <a:lvl4pPr marL="1600200" indent="-228600"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BD8A-AE88-40F8-9052-71FD252D576B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261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2B6-3A06-4B77-A5DA-72A2FBDE50BC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64C21-7238-426D-80C0-44D62E06010B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67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6536D-1FC3-4C92-BC2F-473E4C63EC83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03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D46E-40BF-480A-84F1-6F2619EE1EEF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36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F07-A018-446B-BCEC-6505B44346AB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4CC4-27EE-4803-82AD-4A89BD00B856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1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2E09-98DC-4AFD-8298-6589D91C13AA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6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E741C-1A57-46E4-853A-CB0572D601FD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50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BD65-EE17-4622-98D0-831035BAC5CB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4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91916A1-FEE7-41E7-BEE3-2B4941A6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5990" y="62886"/>
            <a:ext cx="11708355" cy="6301715"/>
            <a:chOff x="175990" y="62886"/>
            <a:chExt cx="11708355" cy="6301715"/>
          </a:xfrm>
        </p:grpSpPr>
        <p:sp useBgFill="1">
          <p:nvSpPr>
            <p:cNvPr id="18" name="Graphic 10">
              <a:extLst>
                <a:ext uri="{FF2B5EF4-FFF2-40B4-BE49-F238E27FC236}">
                  <a16:creationId xmlns:a16="http://schemas.microsoft.com/office/drawing/2014/main" id="{EAFF5F08-677C-4873-9274-02B6FE751044}"/>
                </a:ext>
              </a:extLst>
            </p:cNvPr>
            <p:cNvSpPr/>
            <p:nvPr/>
          </p:nvSpPr>
          <p:spPr>
            <a:xfrm rot="2700000">
              <a:off x="175990" y="525742"/>
              <a:ext cx="1066799" cy="106679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9" name="Graphic 10">
              <a:extLst>
                <a:ext uri="{FF2B5EF4-FFF2-40B4-BE49-F238E27FC236}">
                  <a16:creationId xmlns:a16="http://schemas.microsoft.com/office/drawing/2014/main" id="{16514C65-F179-4953-B660-5FC657697957}"/>
                </a:ext>
              </a:extLst>
            </p:cNvPr>
            <p:cNvSpPr/>
            <p:nvPr/>
          </p:nvSpPr>
          <p:spPr>
            <a:xfrm rot="2700000">
              <a:off x="8482021" y="62886"/>
              <a:ext cx="2322574" cy="2322574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0" name="Graphic 10">
              <a:extLst>
                <a:ext uri="{FF2B5EF4-FFF2-40B4-BE49-F238E27FC236}">
                  <a16:creationId xmlns:a16="http://schemas.microsoft.com/office/drawing/2014/main" id="{DF5DA89C-9FED-4AE0-8C36-20612E77FAC0}"/>
                </a:ext>
              </a:extLst>
            </p:cNvPr>
            <p:cNvSpPr/>
            <p:nvPr/>
          </p:nvSpPr>
          <p:spPr>
            <a:xfrm rot="2700000">
              <a:off x="10578627" y="5015941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1" name="Oval 20">
              <a:extLst>
                <a:ext uri="{FF2B5EF4-FFF2-40B4-BE49-F238E27FC236}">
                  <a16:creationId xmlns:a16="http://schemas.microsoft.com/office/drawing/2014/main" id="{FB98224C-F1DB-4F10-9B7F-93B86BA13F40}"/>
                </a:ext>
              </a:extLst>
            </p:cNvPr>
            <p:cNvSpPr/>
            <p:nvPr/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2" name="Oval 21">
              <a:extLst>
                <a:ext uri="{FF2B5EF4-FFF2-40B4-BE49-F238E27FC236}">
                  <a16:creationId xmlns:a16="http://schemas.microsoft.com/office/drawing/2014/main" id="{9AE1FC9E-06C9-4A12-8BE7-766C3DA8B9AC}"/>
                </a:ext>
              </a:extLst>
            </p:cNvPr>
            <p:cNvSpPr/>
            <p:nvPr/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3" name="Oval 22">
              <a:extLst>
                <a:ext uri="{FF2B5EF4-FFF2-40B4-BE49-F238E27FC236}">
                  <a16:creationId xmlns:a16="http://schemas.microsoft.com/office/drawing/2014/main" id="{29954B75-D8C7-439C-A014-E644E3E2C0A5}"/>
                </a:ext>
              </a:extLst>
            </p:cNvPr>
            <p:cNvSpPr/>
            <p:nvPr/>
          </p:nvSpPr>
          <p:spPr>
            <a:xfrm rot="10800000">
              <a:off x="1678231" y="427615"/>
              <a:ext cx="334385" cy="334385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1626-EB00-4D08-8A31-0293967728BF}" type="datetime1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18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Segoe UI" panose="020B0502040204020203" pitchFamily="34" charset="0"/>
        <a:buChar char="+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6C928B-8BF2-F6F8-062D-D51E01B69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Office Queue Management Product increment #1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FBB2183-AC71-5E73-0E3C-998B5D049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noProof="0" dirty="0">
                <a:solidFill>
                  <a:schemeClr val="bg2">
                    <a:lumMod val="25000"/>
                  </a:schemeClr>
                </a:solidFill>
              </a:rPr>
              <a:t>Group 08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D3FBA74-C5C4-DA59-1A96-B7E04AB0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96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7E1FB9-D955-9F48-9A75-DFE2A5DE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noProof="0" dirty="0">
                <a:solidFill>
                  <a:schemeClr val="bg2">
                    <a:lumMod val="50000"/>
                  </a:schemeClr>
                </a:solidFill>
              </a:rPr>
              <a:t>User stories we completed </a:t>
            </a:r>
            <a:r>
              <a:rPr lang="en-GB" sz="2800" noProof="0" dirty="0">
                <a:solidFill>
                  <a:schemeClr val="bg2">
                    <a:lumMod val="50000"/>
                  </a:schemeClr>
                </a:solidFill>
              </a:rPr>
              <a:t>(#1)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ED0B31-5DE8-69E0-DFD0-2D08BADED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7660"/>
            <a:ext cx="10515600" cy="3408984"/>
          </a:xfrm>
        </p:spPr>
        <p:txBody>
          <a:bodyPr>
            <a:noAutofit/>
          </a:bodyPr>
          <a:lstStyle/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GB" sz="4000" noProof="0" dirty="0">
                <a:solidFill>
                  <a:schemeClr val="bg2">
                    <a:lumMod val="50000"/>
                  </a:schemeClr>
                </a:solidFill>
              </a:rPr>
              <a:t>Get a ticket</a:t>
            </a:r>
            <a:endParaRPr lang="en-GB" sz="4000" noProof="0" dirty="0"/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endParaRPr lang="en-US" dirty="0"/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As a customer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I want to select a service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So that I get served when my turn comes</a:t>
            </a:r>
            <a:endParaRPr lang="en-GB" noProof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0830820-EC97-17CF-ADFF-77F7BF1D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2332204-42C6-C005-E90F-9CC001BA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3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DFD6-0D8A-A448-3117-D9A2E7F0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970805-2280-828F-1C19-976BA2DE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noProof="0" dirty="0">
                <a:solidFill>
                  <a:schemeClr val="bg2">
                    <a:lumMod val="50000"/>
                  </a:schemeClr>
                </a:solidFill>
              </a:rPr>
              <a:t>User stories we completed </a:t>
            </a:r>
            <a:r>
              <a:rPr lang="en-GB" sz="2800" noProof="0" dirty="0">
                <a:solidFill>
                  <a:schemeClr val="bg2">
                    <a:lumMod val="50000"/>
                  </a:schemeClr>
                </a:solidFill>
              </a:rPr>
              <a:t>(#2)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5F8A8B-1433-D7B4-3C5A-BD02BCE0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7660"/>
            <a:ext cx="10515600" cy="3408984"/>
          </a:xfrm>
        </p:spPr>
        <p:txBody>
          <a:bodyPr>
            <a:noAutofit/>
          </a:bodyPr>
          <a:lstStyle/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GB" sz="4000" noProof="0" dirty="0">
                <a:solidFill>
                  <a:schemeClr val="bg2">
                    <a:lumMod val="50000"/>
                  </a:schemeClr>
                </a:solidFill>
              </a:rPr>
              <a:t>Next customer</a:t>
            </a:r>
            <a:endParaRPr lang="en-GB" sz="4000" noProof="0" dirty="0"/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endParaRPr lang="en-US" dirty="0"/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As an officer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I want to call the next client to my counter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So that I can serve him or her</a:t>
            </a:r>
            <a:endParaRPr lang="en-GB" noProof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326F78D-8E8C-6599-5176-A8D7B9E5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3F5B658-4E6D-C6B2-893F-5FE6C27A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3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C9BE6F-AFEE-7567-BDC0-A6C7FBD5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What we deliver today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A77AB6-358F-026C-BD3C-B5F3DC704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>
                <a:solidFill>
                  <a:schemeClr val="bg2">
                    <a:lumMod val="25000"/>
                  </a:schemeClr>
                </a:solidFill>
              </a:rPr>
              <a:t>This product increment consists of distributed application that offers some basic «</a:t>
            </a: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totem</a:t>
            </a:r>
            <a:r>
              <a:rPr lang="en-GB" noProof="0" dirty="0">
                <a:solidFill>
                  <a:schemeClr val="bg2">
                    <a:lumMod val="25000"/>
                  </a:schemeClr>
                </a:solidFill>
              </a:rPr>
              <a:t>» and «</a:t>
            </a: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counter</a:t>
            </a:r>
            <a:r>
              <a:rPr lang="en-GB" noProof="0" dirty="0">
                <a:solidFill>
                  <a:schemeClr val="bg2">
                    <a:lumMod val="25000"/>
                  </a:schemeClr>
                </a:solidFill>
              </a:rPr>
              <a:t>» functionalities:</a:t>
            </a:r>
          </a:p>
          <a:p>
            <a:pPr marL="0" indent="0">
              <a:buNone/>
            </a:pPr>
            <a:endParaRPr lang="en-GB" sz="2400" noProof="0" dirty="0"/>
          </a:p>
          <a:p>
            <a:pPr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chemeClr val="bg2">
                    <a:lumMod val="25000"/>
                  </a:schemeClr>
                </a:solidFill>
              </a:rPr>
              <a:t>View the services </a:t>
            </a:r>
            <a:r>
              <a:rPr lang="en-GB" sz="2400" dirty="0">
                <a:solidFill>
                  <a:schemeClr val="bg2">
                    <a:lumMod val="25000"/>
                  </a:schemeClr>
                </a:solidFill>
              </a:rPr>
              <a:t>available </a:t>
            </a:r>
            <a:r>
              <a:rPr lang="en-GB" sz="2400" noProof="0" dirty="0">
                <a:solidFill>
                  <a:schemeClr val="bg2">
                    <a:lumMod val="25000"/>
                  </a:schemeClr>
                </a:solidFill>
              </a:rPr>
              <a:t>in the office</a:t>
            </a:r>
          </a:p>
          <a:p>
            <a:pPr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chemeClr val="bg2">
                    <a:lumMod val="25000"/>
                  </a:schemeClr>
                </a:solidFill>
              </a:rPr>
              <a:t>Generate a ticket for a selected service and get a unique code (also generate a </a:t>
            </a:r>
            <a:r>
              <a:rPr lang="en-GB" sz="2400" noProof="0" dirty="0" err="1">
                <a:solidFill>
                  <a:schemeClr val="bg2">
                    <a:lumMod val="50000"/>
                  </a:schemeClr>
                </a:solidFill>
              </a:rPr>
              <a:t>QRcode</a:t>
            </a:r>
            <a:r>
              <a:rPr lang="en-GB" sz="2400" noProof="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endParaRPr lang="en-GB" sz="2400" noProof="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chemeClr val="bg2">
                    <a:lumMod val="25000"/>
                  </a:schemeClr>
                </a:solidFill>
              </a:rPr>
              <a:t>Select the counter to manage</a:t>
            </a:r>
          </a:p>
          <a:p>
            <a:pPr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chemeClr val="bg2">
                    <a:lumMod val="25000"/>
                  </a:schemeClr>
                </a:solidFill>
              </a:rPr>
              <a:t>Get the next customer to serve at the selected counter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0B8CECA-CC9F-F948-3BAF-AA243884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F50B22E-8A23-88DE-0B5F-6568D770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76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45FB-C115-01F6-D7B5-C38840C4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53D254-7FAA-8F71-D475-C09D088B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Current limitations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0284CB-91FE-F187-10DB-9FF61AC8C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All involved devices, including counters, totems and customer’s mobile phones (!) must be connected in the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same local network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for the system to work.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endParaRPr lang="en-GB" noProof="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Available services, counters and their associations are hard-coded (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no configuration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yet)</a:t>
            </a:r>
          </a:p>
          <a:p>
            <a:pPr marL="0" indent="0">
              <a:buClr>
                <a:schemeClr val="bg2">
                  <a:lumMod val="50000"/>
                </a:schemeClr>
              </a:buClr>
              <a:buNone/>
            </a:pPr>
            <a:endParaRPr lang="en-GB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bg2">
                    <a:lumMod val="25000"/>
                  </a:schemeClr>
                </a:solidFill>
              </a:rPr>
              <a:t>Counters and totems must </a:t>
            </a: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install an application</a:t>
            </a:r>
            <a:r>
              <a:rPr lang="en-GB" noProof="0" dirty="0">
                <a:solidFill>
                  <a:schemeClr val="bg2">
                    <a:lumMod val="25000"/>
                  </a:schemeClr>
                </a:solidFill>
              </a:rPr>
              <a:t> to work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E0928F2-7E1A-D722-1781-CE9E8C6B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9E1F8C6-2834-4F34-D8EE-C24E4E1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5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BD4707-8A5A-07AD-5F11-A9740A48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5400" dirty="0">
                <a:solidFill>
                  <a:schemeClr val="bg2">
                    <a:lumMod val="50000"/>
                  </a:schemeClr>
                </a:solidFill>
              </a:rPr>
              <a:t>DEMO TIME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E6EA2E1-6A06-7230-4D47-CC1B8F00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SoftEng II     group 08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8FCADC-41C1-695D-39D4-EB6185D9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78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3706-2198-3623-D9CB-2F2298E41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AA36B4-9497-5847-8487-01F1A424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Thanks for your attention!</a:t>
            </a:r>
            <a:br>
              <a:rPr lang="en-GB" noProof="0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GB" noProof="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GB" sz="2700" noProof="0" dirty="0">
                <a:solidFill>
                  <a:schemeClr val="bg2">
                    <a:lumMod val="25000"/>
                  </a:schemeClr>
                </a:solidFill>
              </a:rPr>
              <a:t>(questions?)</a:t>
            </a:r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3F29375-6D12-C89F-C554-48FF8606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SoftEng</a:t>
            </a:r>
            <a:r>
              <a:rPr lang="en-US" dirty="0"/>
              <a:t> II     group 08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4C9DAA8D-9662-6488-9940-E0BC1355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391867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XOVTI">
  <a:themeElements>
    <a:clrScheme name="3D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40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XOVTI" id="{DC540DBD-7FF5-4942-921A-CFF95ECB90AA}" vid="{E72E4198-D957-48FD-B88D-6DAFC89EAFA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Minimale</Template>
  <TotalTime>34</TotalTime>
  <Words>226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Aptos</vt:lpstr>
      <vt:lpstr>Arial</vt:lpstr>
      <vt:lpstr>Courier New</vt:lpstr>
      <vt:lpstr>Open sans</vt:lpstr>
      <vt:lpstr>Segoe UI</vt:lpstr>
      <vt:lpstr>MinimalXOVTI</vt:lpstr>
      <vt:lpstr>Office Queue Management Product increment #1</vt:lpstr>
      <vt:lpstr>User stories we completed (#1)</vt:lpstr>
      <vt:lpstr>User stories we completed (#2)</vt:lpstr>
      <vt:lpstr>What we deliver today</vt:lpstr>
      <vt:lpstr>Current limitations</vt:lpstr>
      <vt:lpstr>DEMO TIME</vt:lpstr>
      <vt:lpstr>Thanks for your attention!  (questions?)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Vivante  Nicola</dc:creator>
  <cp:lastModifiedBy>Vivante  Nicola</cp:lastModifiedBy>
  <cp:revision>9</cp:revision>
  <dcterms:created xsi:type="dcterms:W3CDTF">2026-10-11T14:53:03Z</dcterms:created>
  <dcterms:modified xsi:type="dcterms:W3CDTF">2026-10-11T15:27:34Z</dcterms:modified>
</cp:coreProperties>
</file>